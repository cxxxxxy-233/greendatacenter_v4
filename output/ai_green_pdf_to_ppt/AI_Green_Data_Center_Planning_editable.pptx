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30348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0697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91046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21395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51744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2092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2441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42790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73139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03488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33836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64185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094534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37617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75234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812851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750468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688085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625703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63320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80930" y="312539"/>
            <a:ext cx="8107325" cy="53578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CB188"/>
                </a:solidFill>
                <a:latin typeface="Microsoft YaHei"/>
              </a:rPr>
              <a:t>数据中心绿电一体化方案智能规划系统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6860" y="937617"/>
            <a:ext cx="6202325" cy="312539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82020"/>
                </a:solidFill>
                <a:latin typeface="Microsoft YaHei"/>
              </a:rPr>
              <a:t>基于LangChain+LangGraph的多智能体协同架构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7325" y="1562695"/>
            <a:ext cx="3632790" cy="232171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3651" y="1669851"/>
            <a:ext cx="3420139" cy="2107406"/>
          </a:xfrm>
          <a:prstGeom prst="roundRect">
            <a:avLst/>
          </a:prstGeom>
          <a:solidFill>
            <a:srgbClr val="E7FCF6"/>
          </a:solidFill>
          <a:ln w="6350">
            <a:solidFill>
              <a:srgbClr val="E7F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441" y="1852910"/>
            <a:ext cx="2392325" cy="26789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020"/>
                </a:solidFill>
                <a:latin typeface="Microsoft YaHei"/>
              </a:rPr>
              <a:t>能耗指数级增长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441" y="2277070"/>
            <a:ext cx="1860697" cy="580429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0CB188"/>
                </a:solidFill>
                <a:latin typeface="Microsoft YaHei"/>
              </a:rPr>
              <a:t>2166亿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9534" y="2544960"/>
            <a:ext cx="620232" cy="26789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2020"/>
                </a:solidFill>
                <a:latin typeface="Microsoft YaHei"/>
              </a:rPr>
              <a:t>千瓦时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441" y="3281660"/>
            <a:ext cx="2392325" cy="34825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我国数据中心用电量持续攀升</a:t>
            </a:r>
          </a:p>
        </p:txBody>
      </p:sp>
      <p:pic>
        <p:nvPicPr>
          <p:cNvPr id="32" name="Picture 31" descr="p1_pers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59" y="1897558"/>
            <a:ext cx="927932" cy="1607343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563139" y="1562695"/>
            <a:ext cx="3632790" cy="232171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69464" y="1669851"/>
            <a:ext cx="3420139" cy="2107406"/>
          </a:xfrm>
          <a:prstGeom prst="roundRect">
            <a:avLst/>
          </a:prstGeom>
          <a:solidFill>
            <a:srgbClr val="E7FCF6"/>
          </a:solidFill>
          <a:ln w="6350">
            <a:solidFill>
              <a:srgbClr val="E7F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255" y="1852910"/>
            <a:ext cx="2392325" cy="26789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020"/>
                </a:solidFill>
                <a:latin typeface="Microsoft YaHei"/>
              </a:rPr>
              <a:t>碳排压力显著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255" y="2277070"/>
            <a:ext cx="1860697" cy="580429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0CB188"/>
                </a:solidFill>
                <a:latin typeface="Microsoft YaHei"/>
              </a:rPr>
              <a:t>1350万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5348" y="2544960"/>
            <a:ext cx="620232" cy="26789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2020"/>
                </a:solidFill>
                <a:latin typeface="Microsoft YaHei"/>
              </a:rPr>
              <a:t>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3255" y="3281660"/>
            <a:ext cx="2392325" cy="34825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年碳排放量巨大，刚性指标收紧</a:t>
            </a:r>
          </a:p>
        </p:txBody>
      </p:sp>
      <p:pic>
        <p:nvPicPr>
          <p:cNvPr id="39" name="Picture 38" descr="p1_pers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860" y="1971400"/>
            <a:ext cx="1107558" cy="145966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550348" y="1562695"/>
            <a:ext cx="3189767" cy="232171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56674" y="1669851"/>
            <a:ext cx="2977116" cy="2107406"/>
          </a:xfrm>
          <a:prstGeom prst="roundRect">
            <a:avLst/>
          </a:prstGeom>
          <a:solidFill>
            <a:srgbClr val="E7FCF6"/>
          </a:solidFill>
          <a:ln w="6350">
            <a:solidFill>
              <a:srgbClr val="E7F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0464" y="1852910"/>
            <a:ext cx="1949302" cy="26789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020"/>
                </a:solidFill>
                <a:latin typeface="Microsoft YaHei"/>
              </a:rPr>
              <a:t>传统模式滞后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0464" y="2277070"/>
            <a:ext cx="1860697" cy="580429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0CB188"/>
                </a:solidFill>
                <a:latin typeface="Microsoft YaHei"/>
              </a:rPr>
              <a:t>45%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0464" y="3281660"/>
            <a:ext cx="1949302" cy="34825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高度依赖人工经验，设计流程复杂且协同成本高</a:t>
            </a:r>
          </a:p>
        </p:txBody>
      </p:sp>
      <p:pic>
        <p:nvPicPr>
          <p:cNvPr id="45" name="Picture 44" descr="p1_pers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046" y="1983666"/>
            <a:ext cx="1107558" cy="143512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075813" y="4152304"/>
            <a:ext cx="4208720" cy="535781"/>
          </a:xfrm>
          <a:prstGeom prst="roundRect">
            <a:avLst/>
          </a:prstGeom>
          <a:solidFill>
            <a:srgbClr val="0CB188"/>
          </a:solidFill>
          <a:ln w="19050">
            <a:solidFill>
              <a:srgbClr val="0CB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1627" y="4250531"/>
            <a:ext cx="3721395" cy="339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算力基建高耗能危机与双碳战略需求</a:t>
            </a:r>
          </a:p>
        </p:txBody>
      </p:sp>
      <p:pic>
        <p:nvPicPr>
          <p:cNvPr id="48" name="Picture 47" descr="p1_gaug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255" y="4616090"/>
            <a:ext cx="1373372" cy="134949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39825" y="5424785"/>
            <a:ext cx="575930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±1%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0930" y="4933652"/>
            <a:ext cx="1550581" cy="34825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20"/>
                </a:solidFill>
                <a:latin typeface="Microsoft YaHei"/>
              </a:rPr>
              <a:t>PUE（电能利用效率）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80930" y="5246191"/>
            <a:ext cx="1417674" cy="258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2020"/>
                </a:solidFill>
                <a:latin typeface="Microsoft YaHei"/>
              </a:rPr>
              <a:t>极值挑战</a:t>
            </a:r>
          </a:p>
        </p:txBody>
      </p:sp>
      <p:pic>
        <p:nvPicPr>
          <p:cNvPr id="52" name="Picture 51" descr="p1_gauge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709" y="4663832"/>
            <a:ext cx="1373372" cy="12986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316278" y="5447109"/>
            <a:ext cx="575930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30%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7383" y="4955976"/>
            <a:ext cx="1550581" cy="34825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20"/>
                </a:solidFill>
                <a:latin typeface="Microsoft YaHei"/>
              </a:rPr>
              <a:t>CUE（碳效指标）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7383" y="5268515"/>
            <a:ext cx="1417674" cy="258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2020"/>
                </a:solidFill>
                <a:latin typeface="Microsoft YaHei"/>
              </a:rPr>
              <a:t>刚性约束</a:t>
            </a:r>
          </a:p>
        </p:txBody>
      </p:sp>
      <p:pic>
        <p:nvPicPr>
          <p:cNvPr id="56" name="Picture 55" descr="p1_gauge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1860" y="4646744"/>
            <a:ext cx="1373372" cy="133283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148430" y="5447109"/>
            <a:ext cx="575930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95%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9534" y="4955976"/>
            <a:ext cx="1550581" cy="34825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20"/>
                </a:solidFill>
                <a:latin typeface="Microsoft YaHei"/>
              </a:rPr>
              <a:t>全生命周期</a:t>
            </a:r>
            <a:br/>
            <a:r>
              <a:rPr sz="2400" b="0">
                <a:solidFill>
                  <a:srgbClr val="182020"/>
                </a:solidFill>
                <a:latin typeface="Microsoft YaHei"/>
              </a:rPr>
              <a:t>ROI 与经济性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8081" y="6161484"/>
            <a:ext cx="11031278" cy="468808"/>
          </a:xfrm>
          <a:prstGeom prst="roundRect">
            <a:avLst/>
          </a:prstGeom>
          <a:solidFill>
            <a:srgbClr val="E7FCF6"/>
          </a:solidFill>
          <a:ln w="1524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0465" y="6250781"/>
            <a:ext cx="9746511" cy="24556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20"/>
                </a:solidFill>
                <a:latin typeface="Microsoft YaHei"/>
              </a:rPr>
              <a:t>以AI多智能体协同，突破传统人工规划瓶颈，实现数据中心建设100%数据驱动的低碳论证。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30348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0697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91046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21395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51744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2092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2441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42790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73139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03488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33836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64185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094534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37617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75234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812851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750468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688085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625703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63320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4534" y="334863"/>
            <a:ext cx="3987209" cy="4241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82020"/>
                </a:solidFill>
                <a:latin typeface="Microsoft YaHei"/>
              </a:rPr>
              <a:t>系统整体技术架构蓝图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534" y="848320"/>
            <a:ext cx="3189767" cy="23217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82020"/>
                </a:solidFill>
                <a:latin typeface="Microsoft YaHei"/>
              </a:rPr>
              <a:t>5层核心架构与全链路数据流向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8953" y="1294804"/>
            <a:ext cx="0" cy="5089922"/>
          </a:xfrm>
          <a:prstGeom prst="line">
            <a:avLst/>
          </a:prstGeom>
          <a:ln w="40640">
            <a:solidFill>
              <a:srgbClr val="54D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930348" y="3080742"/>
            <a:ext cx="177209" cy="357187"/>
          </a:xfrm>
          <a:prstGeom prst="chevron">
            <a:avLst/>
          </a:prstGeom>
          <a:solidFill>
            <a:srgbClr val="54D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930348" y="5893593"/>
            <a:ext cx="177209" cy="357187"/>
          </a:xfrm>
          <a:prstGeom prst="chevron">
            <a:avLst/>
          </a:prstGeom>
          <a:solidFill>
            <a:srgbClr val="54D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1627" y="3527226"/>
            <a:ext cx="797441" cy="98226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用户参数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74302" y="1294804"/>
            <a:ext cx="0" cy="5089922"/>
          </a:xfrm>
          <a:prstGeom prst="line">
            <a:avLst/>
          </a:prstGeom>
          <a:ln w="40640">
            <a:solidFill>
              <a:srgbClr val="4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11385697" y="1294804"/>
            <a:ext cx="177209" cy="357187"/>
          </a:xfrm>
          <a:prstGeom prst="chevron">
            <a:avLst/>
          </a:prstGeom>
          <a:solidFill>
            <a:srgbClr val="47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31278" y="3437929"/>
            <a:ext cx="620232" cy="1205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最优推荐方案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28430" y="1272480"/>
            <a:ext cx="9281336" cy="8706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49941" y="1406425"/>
            <a:ext cx="2303720" cy="20091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020"/>
                </a:solidFill>
                <a:latin typeface="Microsoft YaHei"/>
              </a:rPr>
              <a:t>第1层：前端展示层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84651" y="1339453"/>
            <a:ext cx="2879651" cy="379511"/>
          </a:xfrm>
          <a:prstGeom prst="roundRect">
            <a:avLst/>
          </a:prstGeom>
          <a:solidFill>
            <a:srgbClr val="E7FCF6"/>
          </a:solidFill>
          <a:ln w="2794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9709" y="1406425"/>
            <a:ext cx="2569534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2020"/>
                </a:solidFill>
                <a:latin typeface="Microsoft YaHei"/>
              </a:rPr>
              <a:t>Vue 3 + Vite + Element Plus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94244" y="1741289"/>
            <a:ext cx="2082209" cy="294679"/>
          </a:xfrm>
          <a:prstGeom prst="roundRect">
            <a:avLst/>
          </a:prstGeom>
          <a:solidFill>
            <a:srgbClr val="E7FCF6"/>
          </a:solidFill>
          <a:ln w="1905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71453" y="1785937"/>
            <a:ext cx="1727790" cy="19645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2020"/>
                </a:solidFill>
                <a:latin typeface="Microsoft YaHei"/>
              </a:rPr>
              <a:t>参数配置模块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97965" y="1741289"/>
            <a:ext cx="2082209" cy="294679"/>
          </a:xfrm>
          <a:prstGeom prst="roundRect">
            <a:avLst/>
          </a:prstGeom>
          <a:solidFill>
            <a:srgbClr val="E7FCF6"/>
          </a:solidFill>
          <a:ln w="1905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5174" y="1785937"/>
            <a:ext cx="1727790" cy="19645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2020"/>
                </a:solidFill>
                <a:latin typeface="Microsoft YaHei"/>
              </a:rPr>
              <a:t>方案生成模块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1685" y="1741289"/>
            <a:ext cx="2082209" cy="294679"/>
          </a:xfrm>
          <a:prstGeom prst="roundRect">
            <a:avLst/>
          </a:prstGeom>
          <a:solidFill>
            <a:srgbClr val="E7FCF6"/>
          </a:solidFill>
          <a:ln w="1905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8895" y="1785937"/>
            <a:ext cx="1727790" cy="19645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2020"/>
                </a:solidFill>
                <a:latin typeface="Microsoft YaHei"/>
              </a:rPr>
              <a:t>结果展示模块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05406" y="1741289"/>
            <a:ext cx="2082209" cy="294679"/>
          </a:xfrm>
          <a:prstGeom prst="roundRect">
            <a:avLst/>
          </a:prstGeom>
          <a:solidFill>
            <a:srgbClr val="E7FCF6"/>
          </a:solidFill>
          <a:ln w="1905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82616" y="1785937"/>
            <a:ext cx="1727790" cy="19645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2020"/>
                </a:solidFill>
                <a:latin typeface="Microsoft YaHei"/>
              </a:rPr>
              <a:t>历史记录模块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28430" y="2321718"/>
            <a:ext cx="9281336" cy="8259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49941" y="2433339"/>
            <a:ext cx="2303720" cy="20091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020"/>
                </a:solidFill>
                <a:latin typeface="Microsoft YaHei"/>
              </a:rPr>
              <a:t>第2层：后端服务层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84651" y="2254746"/>
            <a:ext cx="2879651" cy="379511"/>
          </a:xfrm>
          <a:prstGeom prst="roundRect">
            <a:avLst/>
          </a:prstGeom>
          <a:solidFill>
            <a:srgbClr val="E7FCF6"/>
          </a:solidFill>
          <a:ln w="2794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5406" y="2321718"/>
            <a:ext cx="2658139" cy="214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2020"/>
                </a:solidFill>
                <a:latin typeface="Microsoft YaHei"/>
              </a:rPr>
              <a:t>FastAPI + Python | PostgreSQL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93604" y="2723554"/>
            <a:ext cx="2525232" cy="25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82209" y="2759273"/>
            <a:ext cx="2348023" cy="18752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RESTful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20092" y="2723554"/>
            <a:ext cx="2015755" cy="25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08697" y="2759273"/>
            <a:ext cx="1838546" cy="18752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参数校验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97848" y="2723554"/>
            <a:ext cx="2547383" cy="25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6453" y="2759273"/>
            <a:ext cx="2370174" cy="18752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数据持久化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28430" y="3303984"/>
            <a:ext cx="9281336" cy="1718964"/>
          </a:xfrm>
          <a:prstGeom prst="roundRect">
            <a:avLst/>
          </a:prstGeom>
          <a:solidFill>
            <a:srgbClr val="E7FCF6"/>
          </a:solidFill>
          <a:ln w="254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49941" y="3446859"/>
            <a:ext cx="3278372" cy="20091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020"/>
                </a:solidFill>
                <a:latin typeface="Microsoft YaHei"/>
              </a:rPr>
              <a:t>第3层：智能体引擎层（核心）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62499" y="3303984"/>
            <a:ext cx="3056860" cy="375046"/>
          </a:xfrm>
          <a:prstGeom prst="roundRect">
            <a:avLst/>
          </a:prstGeom>
          <a:solidFill>
            <a:srgbClr val="E7FCF6"/>
          </a:solidFill>
          <a:ln w="2794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3255" y="3384351"/>
            <a:ext cx="2835348" cy="20091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2020"/>
                </a:solidFill>
                <a:latin typeface="Microsoft YaHei"/>
              </a:rPr>
              <a:t>LangChain + LangGraph（核心大脑）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38546" y="3705820"/>
            <a:ext cx="2392325" cy="133945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904999" y="3839765"/>
            <a:ext cx="708837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04999" y="3862089"/>
            <a:ext cx="708837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20"/>
                </a:solidFill>
                <a:latin typeface="Microsoft YaHei"/>
              </a:rPr>
              <a:t>需求解析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89767" y="3839765"/>
            <a:ext cx="708837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89767" y="3862089"/>
            <a:ext cx="708837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20"/>
                </a:solidFill>
                <a:latin typeface="Microsoft YaHei"/>
              </a:rPr>
              <a:t>方案生成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904999" y="4241601"/>
            <a:ext cx="708837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04999" y="4263925"/>
            <a:ext cx="708837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20"/>
                </a:solidFill>
                <a:latin typeface="Microsoft YaHei"/>
              </a:rPr>
              <a:t>成本计算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189767" y="4241601"/>
            <a:ext cx="708837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89767" y="4263925"/>
            <a:ext cx="708837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20"/>
                </a:solidFill>
                <a:latin typeface="Microsoft YaHei"/>
              </a:rPr>
              <a:t>专家评审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904999" y="4643437"/>
            <a:ext cx="708837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04999" y="4665761"/>
            <a:ext cx="708837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20"/>
                </a:solidFill>
                <a:latin typeface="Microsoft YaHei"/>
              </a:rPr>
              <a:t>辩论协商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189767" y="4643437"/>
            <a:ext cx="708837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89767" y="4665761"/>
            <a:ext cx="708837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20"/>
                </a:solidFill>
                <a:latin typeface="Microsoft YaHei"/>
              </a:rPr>
              <a:t>仲裁决策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02441" y="3911203"/>
            <a:ext cx="398720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4DDB8"/>
                </a:solidFill>
                <a:latin typeface="Microsoft YaHei"/>
              </a:rPr>
              <a:t>≫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02441" y="4313039"/>
            <a:ext cx="398720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4DDB8"/>
                </a:solidFill>
                <a:latin typeface="Microsoft YaHei"/>
              </a:rPr>
              <a:t>≫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02441" y="4714875"/>
            <a:ext cx="398720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4DDB8"/>
                </a:solidFill>
                <a:latin typeface="Microsoft YaHei"/>
              </a:rPr>
              <a:t>≫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629592" y="3728144"/>
            <a:ext cx="1949302" cy="1272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06802" y="3888878"/>
            <a:ext cx="1594883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2020"/>
                </a:solidFill>
                <a:latin typeface="Microsoft YaHei"/>
              </a:rPr>
              <a:t>绿电方案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73255" y="4174628"/>
            <a:ext cx="1461976" cy="40183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核心能力：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差分进化算法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62499" y="4652367"/>
            <a:ext cx="1683488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28953" y="4679156"/>
            <a:ext cx="1550581" cy="1696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2020"/>
                </a:solidFill>
                <a:latin typeface="Microsoft YaHei"/>
              </a:rPr>
              <a:t>输出：风光储装机配比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733953" y="3728144"/>
            <a:ext cx="1949302" cy="1272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11162" y="3888878"/>
            <a:ext cx="1594883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2020"/>
                </a:solidFill>
                <a:latin typeface="Microsoft YaHei"/>
              </a:rPr>
              <a:t>制冷方案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77616" y="4174628"/>
            <a:ext cx="1461976" cy="40183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核心能力：26种方案库，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温度/水资源修正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66860" y="4652367"/>
            <a:ext cx="1683488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33313" y="4679156"/>
            <a:ext cx="1550581" cy="1696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2020"/>
                </a:solidFill>
                <a:latin typeface="Microsoft YaHei"/>
              </a:rPr>
              <a:t>输出：浸没式液冷/间接蒸发等方案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838313" y="3728144"/>
            <a:ext cx="1772092" cy="1272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15523" y="3888878"/>
            <a:ext cx="1417674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2020"/>
                </a:solidFill>
                <a:latin typeface="Microsoft YaHei"/>
              </a:rPr>
              <a:t>供电方案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81976" y="4174628"/>
            <a:ext cx="1284767" cy="40183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核心能力：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GB 50174-2017 标准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71220" y="4652367"/>
            <a:ext cx="1506279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37674" y="4679156"/>
            <a:ext cx="1373372" cy="1696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2020"/>
                </a:solidFill>
                <a:latin typeface="Microsoft YaHei"/>
              </a:rPr>
              <a:t>输出：A+/A/B/C级架构及配置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528430" y="5125640"/>
            <a:ext cx="9281336" cy="6697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49941" y="5277445"/>
            <a:ext cx="2480930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第4层：工具与算法层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32790" y="5214937"/>
            <a:ext cx="1284767" cy="3929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99244" y="5286375"/>
            <a:ext cx="1151860" cy="24110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差分进化算法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050464" y="5214937"/>
            <a:ext cx="1284767" cy="3929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16918" y="5286375"/>
            <a:ext cx="1151860" cy="24110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光伏仿真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(pv_sim)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68139" y="5214937"/>
            <a:ext cx="1284767" cy="3929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34592" y="5286375"/>
            <a:ext cx="1151860" cy="24110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风电仿真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(wind_sim)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885813" y="5214937"/>
            <a:ext cx="1284767" cy="3929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52267" y="5286375"/>
            <a:ext cx="1151860" cy="24110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26种制冷方案库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303488" y="5214937"/>
            <a:ext cx="1284767" cy="3929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369941" y="5286375"/>
            <a:ext cx="1151860" cy="24110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GB标准供电库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528430" y="5884664"/>
            <a:ext cx="9281336" cy="803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749941" y="6072187"/>
            <a:ext cx="1904999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第5层：数据层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031511" y="6018609"/>
            <a:ext cx="1816395" cy="544710"/>
          </a:xfrm>
          <a:prstGeom prst="roundRect">
            <a:avLst/>
          </a:prstGeom>
          <a:solidFill>
            <a:srgbClr val="E7FCF6"/>
          </a:solidFill>
          <a:ln w="127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30232" y="6116835"/>
            <a:ext cx="1329069" cy="3571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气象数据库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（温度/光照/风速）</a:t>
            </a:r>
          </a:p>
        </p:txBody>
      </p:sp>
      <p:sp>
        <p:nvSpPr>
          <p:cNvPr id="106" name="Oval 105"/>
          <p:cNvSpPr/>
          <p:nvPr/>
        </p:nvSpPr>
        <p:spPr>
          <a:xfrm>
            <a:off x="4111255" y="6090046"/>
            <a:ext cx="301255" cy="383976"/>
          </a:xfrm>
          <a:prstGeom prst="ellipse">
            <a:avLst/>
          </a:prstGeom>
          <a:solidFill>
            <a:srgbClr val="0CB188"/>
          </a:solidFill>
          <a:ln w="19050">
            <a:solidFill>
              <a:srgbClr val="0CB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221278" y="6018609"/>
            <a:ext cx="1816395" cy="544710"/>
          </a:xfrm>
          <a:prstGeom prst="roundRect">
            <a:avLst/>
          </a:prstGeom>
          <a:solidFill>
            <a:srgbClr val="E7FCF6"/>
          </a:solidFill>
          <a:ln w="127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19999" y="6116835"/>
            <a:ext cx="1329069" cy="3571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成本数据库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（设备/运维）</a:t>
            </a:r>
          </a:p>
        </p:txBody>
      </p:sp>
      <p:sp>
        <p:nvSpPr>
          <p:cNvPr id="109" name="Oval 108"/>
          <p:cNvSpPr/>
          <p:nvPr/>
        </p:nvSpPr>
        <p:spPr>
          <a:xfrm>
            <a:off x="7301023" y="6090046"/>
            <a:ext cx="301255" cy="383976"/>
          </a:xfrm>
          <a:prstGeom prst="ellipse">
            <a:avLst/>
          </a:prstGeom>
          <a:solidFill>
            <a:srgbClr val="0CB188"/>
          </a:solidFill>
          <a:ln w="19050">
            <a:solidFill>
              <a:srgbClr val="0CB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790813" y="6018609"/>
            <a:ext cx="1816395" cy="544710"/>
          </a:xfrm>
          <a:prstGeom prst="roundRect">
            <a:avLst/>
          </a:prstGeom>
          <a:solidFill>
            <a:srgbClr val="E7FCF6"/>
          </a:solidFill>
          <a:ln w="127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189534" y="6116835"/>
            <a:ext cx="1329069" cy="3571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标准数据库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（规范文档）</a:t>
            </a:r>
          </a:p>
        </p:txBody>
      </p:sp>
      <p:sp>
        <p:nvSpPr>
          <p:cNvPr id="112" name="Oval 111"/>
          <p:cNvSpPr/>
          <p:nvPr/>
        </p:nvSpPr>
        <p:spPr>
          <a:xfrm>
            <a:off x="9870557" y="6090046"/>
            <a:ext cx="301255" cy="383976"/>
          </a:xfrm>
          <a:prstGeom prst="ellipse">
            <a:avLst/>
          </a:prstGeom>
          <a:solidFill>
            <a:srgbClr val="0CB188"/>
          </a:solidFill>
          <a:ln w="19050">
            <a:solidFill>
              <a:srgbClr val="0CB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30348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0697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91046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21395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51744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2092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2441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42790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73139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03488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33836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64185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094534" y="0"/>
            <a:ext cx="0" cy="685800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37617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75234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812851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750468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688085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625703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63320"/>
            <a:ext cx="12191999" cy="0"/>
          </a:xfrm>
          <a:prstGeom prst="line">
            <a:avLst/>
          </a:prstGeom>
          <a:ln w="7620">
            <a:solidFill>
              <a:srgbClr val="EBF3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4534" y="334863"/>
            <a:ext cx="4873255" cy="4241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82020"/>
                </a:solidFill>
                <a:latin typeface="Microsoft YaHei"/>
              </a:rPr>
              <a:t>核心亮点：多智能体协作流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534" y="848320"/>
            <a:ext cx="3677092" cy="23217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82020"/>
                </a:solidFill>
                <a:latin typeface="Microsoft YaHei"/>
              </a:rPr>
              <a:t>模拟专家级决策论证过程的6阶段闭环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046" y="1482328"/>
            <a:ext cx="10809767" cy="1451074"/>
          </a:xfrm>
          <a:prstGeom prst="roundRect">
            <a:avLst/>
          </a:prstGeom>
          <a:solidFill>
            <a:srgbClr val="E7FCF6"/>
          </a:solidFill>
          <a:ln w="2794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3_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64" y="1339453"/>
            <a:ext cx="1640321" cy="16966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971453" y="1428750"/>
            <a:ext cx="1594883" cy="401835"/>
          </a:xfrm>
          <a:prstGeom prst="roundRect">
            <a:avLst/>
          </a:prstGeom>
          <a:solidFill>
            <a:srgbClr val="E7FCF6"/>
          </a:solidFill>
          <a:ln w="254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60058" y="1482328"/>
            <a:ext cx="1417674" cy="23217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01. 需求解析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8662" y="1942207"/>
            <a:ext cx="1417674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6127" y="2031503"/>
            <a:ext cx="1240465" cy="39290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解析负荷、地点、</a:t>
            </a:r>
            <a:br/>
            <a:r>
              <a:rPr sz="2000" b="0">
                <a:solidFill>
                  <a:srgbClr val="182020"/>
                </a:solidFill>
                <a:latin typeface="Microsoft YaHei"/>
              </a:rPr>
              <a:t>预算、PUE目标</a:t>
            </a:r>
          </a:p>
        </p:txBody>
      </p:sp>
      <p:pic>
        <p:nvPicPr>
          <p:cNvPr id="32" name="Picture 31" descr="p3_ic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102" y="1339453"/>
            <a:ext cx="1726654" cy="169664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870057" y="1428750"/>
            <a:ext cx="1594883" cy="401835"/>
          </a:xfrm>
          <a:prstGeom prst="roundRect">
            <a:avLst/>
          </a:prstGeom>
          <a:solidFill>
            <a:srgbClr val="E7FCF6"/>
          </a:solidFill>
          <a:ln w="254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58662" y="1482328"/>
            <a:ext cx="1417674" cy="23217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02. 方案生成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47267" y="1942207"/>
            <a:ext cx="1417674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32" y="2031503"/>
            <a:ext cx="1240465" cy="39290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调度绿电、制冷、供电</a:t>
            </a:r>
            <a:br/>
            <a:r>
              <a:rPr sz="2000" b="0">
                <a:solidFill>
                  <a:srgbClr val="182020"/>
                </a:solidFill>
                <a:latin typeface="Microsoft YaHei"/>
              </a:rPr>
              <a:t>三大底层工具生成初案</a:t>
            </a:r>
          </a:p>
        </p:txBody>
      </p:sp>
      <p:pic>
        <p:nvPicPr>
          <p:cNvPr id="37" name="Picture 36" descr="p3_ic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296" y="1339453"/>
            <a:ext cx="1812987" cy="169664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768662" y="1428750"/>
            <a:ext cx="1594883" cy="401835"/>
          </a:xfrm>
          <a:prstGeom prst="roundRect">
            <a:avLst/>
          </a:prstGeom>
          <a:solidFill>
            <a:srgbClr val="E7FCF6"/>
          </a:solidFill>
          <a:ln w="2540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57267" y="1482328"/>
            <a:ext cx="1417674" cy="23217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03. 成本计算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45871" y="1942207"/>
            <a:ext cx="1417674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3336" y="2031503"/>
            <a:ext cx="1240465" cy="39290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计算总投资、运</a:t>
            </a:r>
            <a:br/>
            <a:r>
              <a:rPr sz="2000" b="0">
                <a:solidFill>
                  <a:srgbClr val="182020"/>
                </a:solidFill>
                <a:latin typeface="Microsoft YaHei"/>
              </a:rPr>
              <a:t>营成本与ROI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7732" y="1629667"/>
            <a:ext cx="531627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4DDB8"/>
                </a:solidFill>
                <a:latin typeface="Microsoft YaHe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64941" y="1629667"/>
            <a:ext cx="531627" cy="22324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4DDB8"/>
                </a:solidFill>
                <a:latin typeface="Microsoft YaHe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4651" y="3036093"/>
            <a:ext cx="9480697" cy="366117"/>
          </a:xfrm>
          <a:prstGeom prst="roundRect">
            <a:avLst/>
          </a:prstGeom>
          <a:solidFill>
            <a:srgbClr val="E7FCF6"/>
          </a:solidFill>
          <a:ln w="2286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6744" y="3098601"/>
            <a:ext cx="2303720" cy="214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04. 专家评审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60697" y="3527226"/>
            <a:ext cx="3056860" cy="51792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984744" y="3607593"/>
            <a:ext cx="301255" cy="303609"/>
          </a:xfrm>
          <a:prstGeom prst="ellipse">
            <a:avLst/>
          </a:prstGeom>
          <a:solidFill>
            <a:srgbClr val="E7FCF6"/>
          </a:solidFill>
          <a:ln w="1905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14476" y="3607593"/>
            <a:ext cx="2082209" cy="1696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2020"/>
                </a:solidFill>
                <a:latin typeface="Microsoft YaHei"/>
              </a:rPr>
              <a:t>经济性分析专家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14476" y="3777257"/>
            <a:ext cx="2082209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2020"/>
                </a:solidFill>
                <a:latin typeface="Microsoft YaHei"/>
              </a:rPr>
              <a:t>（评估投资回报率、成本效益）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60697" y="4196953"/>
            <a:ext cx="3056860" cy="51792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984744" y="4277320"/>
            <a:ext cx="301255" cy="303609"/>
          </a:xfrm>
          <a:prstGeom prst="ellipse">
            <a:avLst/>
          </a:prstGeom>
          <a:solidFill>
            <a:srgbClr val="E7FCF6"/>
          </a:solidFill>
          <a:ln w="1905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14476" y="4277320"/>
            <a:ext cx="2082209" cy="1696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2020"/>
                </a:solidFill>
                <a:latin typeface="Microsoft YaHei"/>
              </a:rPr>
              <a:t>可靠性分析专家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14476" y="4446984"/>
            <a:ext cx="2082209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2020"/>
                </a:solidFill>
                <a:latin typeface="Microsoft YaHei"/>
              </a:rPr>
              <a:t>（评估供电可靠性、冗余配置）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60697" y="4866679"/>
            <a:ext cx="3056860" cy="51792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84744" y="4947046"/>
            <a:ext cx="301255" cy="303609"/>
          </a:xfrm>
          <a:prstGeom prst="ellipse">
            <a:avLst/>
          </a:prstGeom>
          <a:solidFill>
            <a:srgbClr val="E7FCF6"/>
          </a:solidFill>
          <a:ln w="1905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14476" y="4947046"/>
            <a:ext cx="2082209" cy="1696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2020"/>
                </a:solidFill>
                <a:latin typeface="Microsoft YaHei"/>
              </a:rPr>
              <a:t>环保性分析专家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14476" y="5116710"/>
            <a:ext cx="2082209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2020"/>
                </a:solidFill>
                <a:latin typeface="Microsoft YaHei"/>
              </a:rPr>
              <a:t>（评估碳排放、绿电消纳率）</a:t>
            </a:r>
          </a:p>
        </p:txBody>
      </p:sp>
      <p:pic>
        <p:nvPicPr>
          <p:cNvPr id="58" name="Picture 57" descr="p3_cy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494" y="4018359"/>
            <a:ext cx="2695058" cy="223242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221278" y="4589859"/>
            <a:ext cx="1683488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020"/>
                </a:solidFill>
                <a:latin typeface="Microsoft YaHei"/>
              </a:rPr>
              <a:t>05. 辩论协商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4069" y="4866679"/>
            <a:ext cx="2037906" cy="37951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020"/>
                </a:solidFill>
                <a:latin typeface="Microsoft YaHei"/>
              </a:rPr>
              <a:t>多轮论证，观点碰撞，</a:t>
            </a:r>
            <a:br/>
            <a:r>
              <a:rPr sz="2000" b="0">
                <a:solidFill>
                  <a:srgbClr val="182020"/>
                </a:solidFill>
                <a:latin typeface="Microsoft YaHei"/>
              </a:rPr>
              <a:t>寻找最优平衡点</a:t>
            </a:r>
          </a:p>
        </p:txBody>
      </p:sp>
      <p:pic>
        <p:nvPicPr>
          <p:cNvPr id="61" name="Picture 60" descr="p3_gav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0995" y="3795117"/>
            <a:ext cx="1143590" cy="1473398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233836" y="4732734"/>
            <a:ext cx="1329069" cy="383976"/>
          </a:xfrm>
          <a:prstGeom prst="roundRect">
            <a:avLst/>
          </a:prstGeom>
          <a:solidFill>
            <a:srgbClr val="E7FCF6"/>
          </a:solidFill>
          <a:ln w="22860">
            <a:solidFill>
              <a:srgbClr val="54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31302" y="4822031"/>
            <a:ext cx="1129709" cy="178593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020"/>
                </a:solidFill>
                <a:latin typeface="Microsoft YaHei"/>
              </a:rPr>
              <a:t>06. 仲裁决策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68023" y="5201542"/>
            <a:ext cx="1816395" cy="5134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0929" y="5322093"/>
            <a:ext cx="1550581" cy="312539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2020"/>
                </a:solidFill>
                <a:latin typeface="Microsoft YaHei"/>
              </a:rPr>
              <a:t>综合各方评分，输出最终</a:t>
            </a:r>
            <a:br/>
            <a:r>
              <a:rPr sz="1800" b="0">
                <a:solidFill>
                  <a:srgbClr val="182020"/>
                </a:solidFill>
                <a:latin typeface="Microsoft YaHei"/>
              </a:rPr>
              <a:t>推荐方案与可行性报告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03720" y="6206132"/>
            <a:ext cx="7398488" cy="437554"/>
          </a:xfrm>
          <a:prstGeom prst="roundRect">
            <a:avLst/>
          </a:prstGeom>
          <a:solidFill>
            <a:srgbClr val="E7FCF6"/>
          </a:solidFill>
          <a:ln w="12700">
            <a:solidFill>
              <a:srgbClr val="EB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6744" y="6295429"/>
            <a:ext cx="6512441" cy="24110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82020"/>
                </a:solidFill>
                <a:latin typeface="Microsoft YaHei"/>
              </a:rPr>
              <a:t>从单一维度计算到多维视角博弈 —— LangGraph 赋予系统真正的工程级规划智慧。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