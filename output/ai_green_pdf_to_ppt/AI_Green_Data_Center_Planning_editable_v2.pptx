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25232" y="223242"/>
            <a:ext cx="7974418" cy="535781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AA67E"/>
                </a:solidFill>
                <a:latin typeface="Microsoft YaHei"/>
              </a:rPr>
              <a:t>数据中心绿电一体化方案智能规划系统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1162" y="781347"/>
            <a:ext cx="6290930" cy="321468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1F1F"/>
                </a:solidFill>
                <a:latin typeface="Microsoft YaHei"/>
              </a:rPr>
              <a:t>基于 LangChain + LangGraph 的多智能体协同架构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1627" y="1540371"/>
            <a:ext cx="3566337" cy="236636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093" y="1629667"/>
            <a:ext cx="3371406" cy="2169914"/>
          </a:xfrm>
          <a:prstGeom prst="roundRect">
            <a:avLst/>
          </a:prstGeom>
          <a:solidFill>
            <a:srgbClr val="E9FBF5"/>
          </a:solidFill>
          <a:ln w="6350">
            <a:solidFill>
              <a:srgbClr val="E9F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290" y="1785937"/>
            <a:ext cx="1461976" cy="37504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能耗指数级增长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441" y="2254746"/>
            <a:ext cx="1461976" cy="41076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A67E"/>
                </a:solidFill>
                <a:latin typeface="Microsoft YaHei"/>
              </a:rPr>
              <a:t>2166亿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39186" y="2665511"/>
            <a:ext cx="531627" cy="14287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4E4E"/>
                </a:solidFill>
                <a:latin typeface="Microsoft YaHei"/>
              </a:rPr>
              <a:t>千瓦时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441" y="3237011"/>
            <a:ext cx="1904999" cy="366117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64E4E"/>
                </a:solidFill>
                <a:latin typeface="Microsoft YaHei"/>
              </a:rPr>
              <a:t>我国数据中心用电量持续攀升</a:t>
            </a:r>
          </a:p>
        </p:txBody>
      </p:sp>
      <p:pic>
        <p:nvPicPr>
          <p:cNvPr id="32" name="Picture 31" descr="p1_pers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52" y="1919882"/>
            <a:ext cx="811940" cy="140642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306185" y="1540371"/>
            <a:ext cx="3566337" cy="236636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03651" y="1629667"/>
            <a:ext cx="3371406" cy="2169914"/>
          </a:xfrm>
          <a:prstGeom prst="roundRect">
            <a:avLst/>
          </a:prstGeom>
          <a:solidFill>
            <a:srgbClr val="E9FBF5"/>
          </a:solidFill>
          <a:ln w="6350">
            <a:solidFill>
              <a:srgbClr val="E9F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9848" y="1785937"/>
            <a:ext cx="1461976" cy="37504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碳排压力显著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999" y="2254746"/>
            <a:ext cx="1461976" cy="41076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A67E"/>
                </a:solidFill>
                <a:latin typeface="Microsoft YaHei"/>
              </a:rPr>
              <a:t>1350万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13744" y="2665511"/>
            <a:ext cx="531627" cy="14287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4E4E"/>
                </a:solidFill>
                <a:latin typeface="Microsoft YaHei"/>
              </a:rPr>
              <a:t>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1999" y="3237011"/>
            <a:ext cx="1904999" cy="366117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64E4E"/>
                </a:solidFill>
                <a:latin typeface="Microsoft YaHei"/>
              </a:rPr>
              <a:t>年碳排放量巨大，刚性指标收紧</a:t>
            </a:r>
          </a:p>
        </p:txBody>
      </p:sp>
      <p:pic>
        <p:nvPicPr>
          <p:cNvPr id="39" name="Picture 38" descr="p1_pers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924" y="1875234"/>
            <a:ext cx="1084103" cy="142875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085174" y="1540371"/>
            <a:ext cx="3566337" cy="2366367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82639" y="1629667"/>
            <a:ext cx="3371406" cy="2169914"/>
          </a:xfrm>
          <a:prstGeom prst="roundRect">
            <a:avLst/>
          </a:prstGeom>
          <a:solidFill>
            <a:srgbClr val="E9FBF5"/>
          </a:solidFill>
          <a:ln w="6350">
            <a:solidFill>
              <a:srgbClr val="E9F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8837" y="1785937"/>
            <a:ext cx="1461976" cy="37504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传统模式滞后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0988" y="2254746"/>
            <a:ext cx="1461976" cy="41076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0AA67E"/>
                </a:solidFill>
                <a:latin typeface="Microsoft YaHei"/>
              </a:rPr>
              <a:t>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0988" y="3237011"/>
            <a:ext cx="1904999" cy="366117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64E4E"/>
                </a:solidFill>
                <a:latin typeface="Microsoft YaHei"/>
              </a:rPr>
              <a:t>高度依赖人工经验，设计流程复杂且协同成本高</a:t>
            </a:r>
          </a:p>
        </p:txBody>
      </p:sp>
      <p:pic>
        <p:nvPicPr>
          <p:cNvPr id="45" name="Picture 44" descr="p1_pers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902" y="1875234"/>
            <a:ext cx="1102635" cy="142875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208720" y="4174628"/>
            <a:ext cx="3787848" cy="535781"/>
          </a:xfrm>
          <a:prstGeom prst="roundRect">
            <a:avLst/>
          </a:prstGeom>
          <a:solidFill>
            <a:srgbClr val="0AA67E"/>
          </a:solidFill>
          <a:ln w="12700">
            <a:solidFill>
              <a:srgbClr val="0AA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3778" y="4286250"/>
            <a:ext cx="3477732" cy="28575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算力基建高耗能危机与双碳战略需求</a:t>
            </a:r>
          </a:p>
        </p:txBody>
      </p:sp>
      <p:pic>
        <p:nvPicPr>
          <p:cNvPr id="48" name="Picture 47" descr="p1_gau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507" y="4857750"/>
            <a:ext cx="866600" cy="9152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24639" y="5456039"/>
            <a:ext cx="522767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±1%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15116" y="4889003"/>
            <a:ext cx="1373372" cy="19645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F1F"/>
                </a:solidFill>
                <a:latin typeface="Microsoft YaHei"/>
              </a:rPr>
              <a:t>PUE（电能利用效率）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5116" y="5058667"/>
            <a:ext cx="1373372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极值挑战</a:t>
            </a:r>
          </a:p>
        </p:txBody>
      </p:sp>
      <p:pic>
        <p:nvPicPr>
          <p:cNvPr id="52" name="Picture 51" descr="p1_gauge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567" y="4857750"/>
            <a:ext cx="859668" cy="91529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92232" y="5456039"/>
            <a:ext cx="522767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30%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9418" y="4889003"/>
            <a:ext cx="1262616" cy="19645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F1F"/>
                </a:solidFill>
                <a:latin typeface="Microsoft YaHei"/>
              </a:rPr>
              <a:t>CUE（碳效指标）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69418" y="5058667"/>
            <a:ext cx="1262616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刚性约束</a:t>
            </a:r>
          </a:p>
        </p:txBody>
      </p:sp>
      <p:pic>
        <p:nvPicPr>
          <p:cNvPr id="56" name="Picture 55" descr="p1_gauge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414" y="4857750"/>
            <a:ext cx="866600" cy="91529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077546" y="5456039"/>
            <a:ext cx="522767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95%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45871" y="4857750"/>
            <a:ext cx="1151860" cy="19645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F1F"/>
                </a:solidFill>
                <a:latin typeface="Microsoft YaHei"/>
              </a:rPr>
              <a:t>全生命周期 ROI 与经济性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2383" y="6183808"/>
            <a:ext cx="10898371" cy="464343"/>
          </a:xfrm>
          <a:prstGeom prst="roundRect">
            <a:avLst/>
          </a:prstGeom>
          <a:solidFill>
            <a:srgbClr val="E9FBF5"/>
          </a:solidFill>
          <a:ln w="1270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3255" y="6295429"/>
            <a:ext cx="10056627" cy="22324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64E4E"/>
                </a:solidFill>
                <a:latin typeface="Microsoft YaHei"/>
              </a:rPr>
              <a:t>以 AI 多智能体协同，突破传统人工规划瓶颈，实现数据中心建设 100% 数据驱动的低碳论证。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8837" y="245566"/>
            <a:ext cx="3987209" cy="39290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1F1F"/>
                </a:solidFill>
                <a:latin typeface="Microsoft YaHei"/>
              </a:rPr>
              <a:t>系统整体技术架构蓝图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837" y="669726"/>
            <a:ext cx="3632790" cy="250031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64E4E"/>
                </a:solidFill>
                <a:latin typeface="Microsoft YaHei"/>
              </a:rPr>
              <a:t>5 层核心架构与全链路数据流向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4651" y="1227832"/>
            <a:ext cx="0" cy="5179218"/>
          </a:xfrm>
          <a:prstGeom prst="line">
            <a:avLst/>
          </a:prstGeom>
          <a:ln w="35560">
            <a:solidFill>
              <a:srgbClr val="0AA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87325" y="3393281"/>
            <a:ext cx="531627" cy="98226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用户参数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744" y="3103066"/>
            <a:ext cx="265813" cy="26789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A67E"/>
                </a:solidFill>
                <a:latin typeface="Microsoft YaHe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744" y="5759648"/>
            <a:ext cx="265813" cy="26789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A67E"/>
                </a:solidFill>
                <a:latin typeface="Microsoft YaHei"/>
              </a:rPr>
              <a:t>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52150" y="1227832"/>
            <a:ext cx="0" cy="5179218"/>
          </a:xfrm>
          <a:prstGeom prst="line">
            <a:avLst/>
          </a:prstGeom>
          <a:ln w="35560">
            <a:solidFill>
              <a:srgbClr val="4D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022418" y="3393281"/>
            <a:ext cx="620232" cy="107156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最优推荐方案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19243" y="1339453"/>
            <a:ext cx="265813" cy="267890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DD6E9"/>
                </a:solidFill>
                <a:latin typeface="Microsoft YaHei"/>
              </a:rPr>
              <a:t>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61976" y="1227832"/>
            <a:ext cx="9436395" cy="8036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49941" y="1370707"/>
            <a:ext cx="1284767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第1层：前端展示层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73255" y="1272480"/>
            <a:ext cx="2480930" cy="339328"/>
          </a:xfrm>
          <a:prstGeom prst="roundRect">
            <a:avLst/>
          </a:prstGeom>
          <a:solidFill>
            <a:srgbClr val="E9FBF5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4011" y="1348382"/>
            <a:ext cx="2259418" cy="178593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Vue 3 + Vite + Element Plus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49941" y="1705570"/>
            <a:ext cx="1860697" cy="250031"/>
          </a:xfrm>
          <a:prstGeom prst="roundRect">
            <a:avLst/>
          </a:prstGeom>
          <a:solidFill>
            <a:srgbClr val="E9FBF5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38546" y="1741289"/>
            <a:ext cx="1683488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参数配置模块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3662" y="1705570"/>
            <a:ext cx="1860697" cy="250031"/>
          </a:xfrm>
          <a:prstGeom prst="roundRect">
            <a:avLst/>
          </a:prstGeom>
          <a:solidFill>
            <a:srgbClr val="E9FBF5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2267" y="1741289"/>
            <a:ext cx="1683488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方案生成模块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7383" y="1705570"/>
            <a:ext cx="1860697" cy="250031"/>
          </a:xfrm>
          <a:prstGeom prst="roundRect">
            <a:avLst/>
          </a:prstGeom>
          <a:solidFill>
            <a:srgbClr val="E9FBF5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5988" y="1741289"/>
            <a:ext cx="1683488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结果展示模块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1104" y="1705570"/>
            <a:ext cx="1860697" cy="250031"/>
          </a:xfrm>
          <a:prstGeom prst="roundRect">
            <a:avLst/>
          </a:prstGeom>
          <a:solidFill>
            <a:srgbClr val="E9FBF5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9709" y="1741289"/>
            <a:ext cx="1683488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历史记录模块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61976" y="2210097"/>
            <a:ext cx="9436395" cy="7366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49941" y="2352972"/>
            <a:ext cx="1284767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第2层：后端服务层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73255" y="2232421"/>
            <a:ext cx="2480930" cy="339328"/>
          </a:xfrm>
          <a:prstGeom prst="roundRect">
            <a:avLst/>
          </a:prstGeom>
          <a:solidFill>
            <a:srgbClr val="E9FBF5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61860" y="2299394"/>
            <a:ext cx="2303720" cy="187523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FastAPI + Python | PostgreSQL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1569" y="2634257"/>
            <a:ext cx="1993604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0174" y="2665511"/>
            <a:ext cx="1816395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F1F"/>
                </a:solidFill>
                <a:latin typeface="Microsoft YaHei"/>
              </a:rPr>
              <a:t>RESTful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06162" y="2634257"/>
            <a:ext cx="1860697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94767" y="2665511"/>
            <a:ext cx="1683488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F1F"/>
                </a:solidFill>
                <a:latin typeface="Microsoft YaHei"/>
              </a:rPr>
              <a:t>参数校验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75697" y="2634257"/>
            <a:ext cx="2215116" cy="23217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4302" y="2665511"/>
            <a:ext cx="2037906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1F1F"/>
                </a:solidFill>
                <a:latin typeface="Microsoft YaHei"/>
              </a:rPr>
              <a:t>数据持久化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61976" y="3080742"/>
            <a:ext cx="9436395" cy="1919882"/>
          </a:xfrm>
          <a:prstGeom prst="roundRect">
            <a:avLst/>
          </a:prstGeom>
          <a:solidFill>
            <a:srgbClr val="E9FBF5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49941" y="3214687"/>
            <a:ext cx="1594883" cy="16966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第3层：智能体引擎层（核心）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84651" y="3103066"/>
            <a:ext cx="2658139" cy="330398"/>
          </a:xfrm>
          <a:prstGeom prst="roundRect">
            <a:avLst/>
          </a:prstGeom>
          <a:solidFill>
            <a:srgbClr val="E9FBF5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5406" y="3170039"/>
            <a:ext cx="2436627" cy="178593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1F1F"/>
                </a:solidFill>
                <a:latin typeface="Microsoft YaHei"/>
              </a:rPr>
              <a:t>LangChain + LangGraph（核心大脑）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38546" y="3638847"/>
            <a:ext cx="2303720" cy="1138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904999" y="3728144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49302" y="3763863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需求解析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49279" y="3763863"/>
            <a:ext cx="265813" cy="160734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A67E"/>
                </a:solidFill>
                <a:latin typeface="Microsoft YaHei"/>
              </a:rPr>
              <a:t>≫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46104" y="3728144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0406" y="3763863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方案生成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04999" y="4085332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49302" y="4121050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成本计算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49279" y="4121050"/>
            <a:ext cx="265813" cy="160734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A67E"/>
                </a:solidFill>
                <a:latin typeface="Microsoft YaHei"/>
              </a:rPr>
              <a:t>≫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46104" y="4085332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0406" y="4121050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专家评审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904999" y="4442519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49302" y="4478238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辩论协商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49279" y="4478238"/>
            <a:ext cx="265813" cy="160734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A67E"/>
                </a:solidFill>
                <a:latin typeface="Microsoft YaHei"/>
              </a:rPr>
              <a:t>≫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46104" y="4442519"/>
            <a:ext cx="686686" cy="24110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0406" y="4478238"/>
            <a:ext cx="598081" cy="16073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F1F"/>
                </a:solidFill>
                <a:latin typeface="Microsoft YaHei"/>
              </a:rPr>
              <a:t>仲裁决策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85290" y="3638847"/>
            <a:ext cx="1860697" cy="1138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18197" y="3763863"/>
            <a:ext cx="1594883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绿电方案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53639" y="4013894"/>
            <a:ext cx="1523999" cy="42862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核心能力：差分进化算法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00476" y="4464843"/>
            <a:ext cx="1630325" cy="214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62499" y="4496097"/>
            <a:ext cx="1506279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输出：风光储装机配比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45348" y="3638847"/>
            <a:ext cx="1860697" cy="1138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78255" y="3763863"/>
            <a:ext cx="1594883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制冷方案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13697" y="4013894"/>
            <a:ext cx="1523999" cy="42862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核心能力：26种方案库</a:t>
            </a:r>
            <a:br/>
            <a:r>
              <a:rPr sz="1400" b="0">
                <a:solidFill>
                  <a:srgbClr val="464E4E"/>
                </a:solidFill>
                <a:latin typeface="Microsoft YaHei"/>
              </a:rPr>
              <a:t>温度/水资源修正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760534" y="4464843"/>
            <a:ext cx="1630325" cy="214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22557" y="4496097"/>
            <a:ext cx="1506279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输出：浸没式液冷/间接蒸发等方案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05406" y="3638847"/>
            <a:ext cx="1860697" cy="11385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38313" y="3763863"/>
            <a:ext cx="1594883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供电方案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73755" y="4013894"/>
            <a:ext cx="1523999" cy="42862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核心能力：GB 50174-2017 标准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820592" y="4464843"/>
            <a:ext cx="1630325" cy="214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82616" y="4496097"/>
            <a:ext cx="1506279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输出：A+/A/B/C级架构及配置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461976" y="5125640"/>
            <a:ext cx="9436395" cy="5804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749941" y="5259585"/>
            <a:ext cx="1417674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第4层：工具与算法层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09999" y="5206007"/>
            <a:ext cx="1196162" cy="3661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54302" y="5277445"/>
            <a:ext cx="1107558" cy="21431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差分进化算法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161220" y="5206007"/>
            <a:ext cx="1196162" cy="3661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205523" y="5277445"/>
            <a:ext cx="1107558" cy="21431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光伏仿真</a:t>
            </a:r>
            <a:br/>
            <a:r>
              <a:rPr sz="1400" b="0">
                <a:solidFill>
                  <a:srgbClr val="181F1F"/>
                </a:solidFill>
                <a:latin typeface="Microsoft YaHei"/>
              </a:rPr>
              <a:t>(pv_sim)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12441" y="5206007"/>
            <a:ext cx="1196162" cy="3661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56744" y="5277445"/>
            <a:ext cx="1107558" cy="21431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风电仿真</a:t>
            </a:r>
            <a:br/>
            <a:r>
              <a:rPr sz="1400" b="0">
                <a:solidFill>
                  <a:srgbClr val="181F1F"/>
                </a:solidFill>
                <a:latin typeface="Microsoft YaHei"/>
              </a:rPr>
              <a:t>(wind_sim)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863662" y="5206007"/>
            <a:ext cx="1196162" cy="3661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07964" y="5277445"/>
            <a:ext cx="1107558" cy="21431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26种制冷方案库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214883" y="5206007"/>
            <a:ext cx="1196162" cy="3661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59185" y="5277445"/>
            <a:ext cx="1107558" cy="21431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GB标准供电库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461976" y="5848945"/>
            <a:ext cx="9436395" cy="75902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49941" y="6027539"/>
            <a:ext cx="1063255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第5层：数据层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87209" y="5973960"/>
            <a:ext cx="1860697" cy="526851"/>
          </a:xfrm>
          <a:prstGeom prst="roundRect">
            <a:avLst/>
          </a:prstGeom>
          <a:solidFill>
            <a:srgbClr val="E9FBF5"/>
          </a:solidFill>
          <a:ln w="1270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097965" y="6081117"/>
            <a:ext cx="256953" cy="258960"/>
          </a:xfrm>
          <a:prstGeom prst="ellipse">
            <a:avLst/>
          </a:prstGeom>
          <a:solidFill>
            <a:srgbClr val="0AA67E"/>
          </a:solidFill>
          <a:ln w="16510">
            <a:solidFill>
              <a:srgbClr val="0AA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08081" y="6072187"/>
            <a:ext cx="1329069" cy="33039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气象数据库</a:t>
            </a:r>
            <a:br/>
            <a:r>
              <a:rPr sz="1400" b="0">
                <a:solidFill>
                  <a:srgbClr val="181F1F"/>
                </a:solidFill>
                <a:latin typeface="Microsoft YaHei"/>
              </a:rPr>
              <a:t>（温度/光照/风速）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088371" y="5973960"/>
            <a:ext cx="1860697" cy="526851"/>
          </a:xfrm>
          <a:prstGeom prst="roundRect">
            <a:avLst/>
          </a:prstGeom>
          <a:solidFill>
            <a:srgbClr val="E9FBF5"/>
          </a:solidFill>
          <a:ln w="1270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199127" y="6081117"/>
            <a:ext cx="256953" cy="258960"/>
          </a:xfrm>
          <a:prstGeom prst="ellipse">
            <a:avLst/>
          </a:prstGeom>
          <a:solidFill>
            <a:srgbClr val="0AA67E"/>
          </a:solidFill>
          <a:ln w="16510">
            <a:solidFill>
              <a:srgbClr val="0AA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09243" y="6072187"/>
            <a:ext cx="1329069" cy="33039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成本数据库</a:t>
            </a:r>
            <a:br/>
            <a:r>
              <a:rPr sz="1400" b="0">
                <a:solidFill>
                  <a:srgbClr val="181F1F"/>
                </a:solidFill>
                <a:latin typeface="Microsoft YaHei"/>
              </a:rPr>
              <a:t>（设备/运维）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746511" y="5973960"/>
            <a:ext cx="1860697" cy="526851"/>
          </a:xfrm>
          <a:prstGeom prst="roundRect">
            <a:avLst/>
          </a:prstGeom>
          <a:solidFill>
            <a:srgbClr val="E9FBF5"/>
          </a:solidFill>
          <a:ln w="1270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857267" y="6081117"/>
            <a:ext cx="256953" cy="258960"/>
          </a:xfrm>
          <a:prstGeom prst="ellipse">
            <a:avLst/>
          </a:prstGeom>
          <a:solidFill>
            <a:srgbClr val="0AA67E"/>
          </a:solidFill>
          <a:ln w="16510">
            <a:solidFill>
              <a:srgbClr val="0AA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67383" y="6072187"/>
            <a:ext cx="1329069" cy="330398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F1F"/>
                </a:solidFill>
                <a:latin typeface="Microsoft YaHei"/>
              </a:rPr>
              <a:t>标准数据库</a:t>
            </a:r>
            <a:br/>
            <a:r>
              <a:rPr sz="1400" b="0">
                <a:solidFill>
                  <a:srgbClr val="181F1F"/>
                </a:solidFill>
                <a:latin typeface="Microsoft YaHei"/>
              </a:rPr>
              <a:t>（规范文档）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3034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0697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9104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2139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5174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2092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2441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42790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73139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03488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33836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64185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094534" y="0"/>
            <a:ext cx="0" cy="685800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937617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1875234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2812851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3750468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4688085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5625703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63320"/>
            <a:ext cx="12191999" cy="0"/>
          </a:xfrm>
          <a:prstGeom prst="line">
            <a:avLst/>
          </a:prstGeom>
          <a:ln w="7620">
            <a:solidFill>
              <a:srgbClr val="EAF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4534" y="245566"/>
            <a:ext cx="4961860" cy="392906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1F1F"/>
                </a:solidFill>
                <a:latin typeface="Microsoft YaHei"/>
              </a:rPr>
              <a:t>核心亮点：多智能体协作流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534" y="660796"/>
            <a:ext cx="3809999" cy="250031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64E4E"/>
                </a:solidFill>
                <a:latin typeface="Microsoft YaHei"/>
              </a:rPr>
              <a:t>模拟专家级决策论证过程的 6 阶段闭环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441" y="1473398"/>
            <a:ext cx="10898371" cy="1339453"/>
          </a:xfrm>
          <a:prstGeom prst="roundRect">
            <a:avLst/>
          </a:prstGeom>
          <a:solidFill>
            <a:srgbClr val="E9FBF5"/>
          </a:solidFill>
          <a:ln w="2286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3_ic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90" y="1562695"/>
            <a:ext cx="869515" cy="89296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506279" y="1585019"/>
            <a:ext cx="1461976" cy="276820"/>
          </a:xfrm>
          <a:prstGeom prst="roundRect">
            <a:avLst/>
          </a:prstGeom>
          <a:solidFill>
            <a:srgbClr val="E9FBF5"/>
          </a:solidFill>
          <a:ln w="2032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86023" y="1629667"/>
            <a:ext cx="1302488" cy="17859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01. 需求解析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1848" y="1928812"/>
            <a:ext cx="1293627" cy="5357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32" y="1973460"/>
            <a:ext cx="1151860" cy="44648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64E4E"/>
                </a:solidFill>
                <a:latin typeface="Microsoft YaHei"/>
              </a:rPr>
              <a:t>解析负荷、地点、</a:t>
            </a:r>
            <a:br/>
            <a:r>
              <a:rPr sz="1500" b="0">
                <a:solidFill>
                  <a:srgbClr val="464E4E"/>
                </a:solidFill>
                <a:latin typeface="Microsoft YaHei"/>
              </a:rPr>
              <a:t>预算、PUE目标</a:t>
            </a:r>
          </a:p>
        </p:txBody>
      </p:sp>
      <p:pic>
        <p:nvPicPr>
          <p:cNvPr id="32" name="Picture 31" descr="p3_ic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893" y="1562695"/>
            <a:ext cx="869515" cy="89296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360581" y="1585019"/>
            <a:ext cx="1550581" cy="276820"/>
          </a:xfrm>
          <a:prstGeom prst="roundRect">
            <a:avLst/>
          </a:prstGeom>
          <a:solidFill>
            <a:srgbClr val="E9FBF5"/>
          </a:solidFill>
          <a:ln w="2032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325" y="1629667"/>
            <a:ext cx="1391092" cy="17859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02. 方案生成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56151" y="1928812"/>
            <a:ext cx="1404383" cy="5893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7034" y="1973460"/>
            <a:ext cx="1262616" cy="500062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64E4E"/>
                </a:solidFill>
                <a:latin typeface="Microsoft YaHei"/>
              </a:rPr>
              <a:t>调度绿电、制冷、供电</a:t>
            </a:r>
            <a:br/>
            <a:r>
              <a:rPr sz="1500" b="0">
                <a:solidFill>
                  <a:srgbClr val="464E4E"/>
                </a:solidFill>
                <a:latin typeface="Microsoft YaHei"/>
              </a:rPr>
              <a:t>三大底层工具生成初案</a:t>
            </a:r>
          </a:p>
        </p:txBody>
      </p:sp>
      <p:pic>
        <p:nvPicPr>
          <p:cNvPr id="37" name="Picture 36" descr="p3_ic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232" y="1581830"/>
            <a:ext cx="886046" cy="854698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259185" y="1585019"/>
            <a:ext cx="1329069" cy="276820"/>
          </a:xfrm>
          <a:prstGeom prst="roundRect">
            <a:avLst/>
          </a:prstGeom>
          <a:solidFill>
            <a:srgbClr val="E9FBF5"/>
          </a:solidFill>
          <a:ln w="2032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38929" y="1629667"/>
            <a:ext cx="1169581" cy="17859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03. 成本计算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54755" y="1928812"/>
            <a:ext cx="1271476" cy="5447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5639" y="1973460"/>
            <a:ext cx="1129709" cy="45541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64E4E"/>
                </a:solidFill>
                <a:latin typeface="Microsoft YaHei"/>
              </a:rPr>
              <a:t>计算总投资、运营成本与 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6976" y="1705570"/>
            <a:ext cx="310116" cy="187523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A67E"/>
                </a:solidFill>
                <a:latin typeface="Microsoft YaHe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3430" y="1705570"/>
            <a:ext cx="310116" cy="187523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A67E"/>
                </a:solidFill>
                <a:latin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8953" y="3125390"/>
            <a:ext cx="9392092" cy="258960"/>
          </a:xfrm>
          <a:prstGeom prst="roundRect">
            <a:avLst/>
          </a:prstGeom>
          <a:solidFill>
            <a:srgbClr val="E9FBF5"/>
          </a:solidFill>
          <a:ln w="1778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09999" y="3161109"/>
            <a:ext cx="3809999" cy="17859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04. 专家评审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60697" y="3527226"/>
            <a:ext cx="3101162" cy="50006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967023" y="3634382"/>
            <a:ext cx="248093" cy="250031"/>
          </a:xfrm>
          <a:prstGeom prst="ellipse">
            <a:avLst/>
          </a:prstGeom>
          <a:solidFill>
            <a:srgbClr val="E9FBF5"/>
          </a:solidFill>
          <a:ln w="1651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9162" y="3607593"/>
            <a:ext cx="2480930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经济性分析专家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9162" y="3759398"/>
            <a:ext cx="2436627" cy="12501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评估投资回报率、成本效益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60697" y="4174628"/>
            <a:ext cx="3101162" cy="50006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967023" y="4281785"/>
            <a:ext cx="248093" cy="250031"/>
          </a:xfrm>
          <a:prstGeom prst="ellipse">
            <a:avLst/>
          </a:prstGeom>
          <a:solidFill>
            <a:srgbClr val="E9FBF5"/>
          </a:solidFill>
          <a:ln w="1651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9162" y="4254996"/>
            <a:ext cx="2480930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可靠性分析专家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9162" y="4406800"/>
            <a:ext cx="2436627" cy="12501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评估供电可靠性、冗余配置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60697" y="4822031"/>
            <a:ext cx="3101162" cy="50006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67023" y="4929187"/>
            <a:ext cx="248093" cy="250031"/>
          </a:xfrm>
          <a:prstGeom prst="ellipse">
            <a:avLst/>
          </a:prstGeom>
          <a:solidFill>
            <a:srgbClr val="E9FBF5"/>
          </a:solidFill>
          <a:ln w="1651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39162" y="4902398"/>
            <a:ext cx="2480930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F1F"/>
                </a:solidFill>
                <a:latin typeface="Microsoft YaHei"/>
              </a:rPr>
              <a:t>环保性分析专家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9162" y="5054203"/>
            <a:ext cx="2436627" cy="12501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64E4E"/>
                </a:solidFill>
                <a:latin typeface="Microsoft YaHei"/>
              </a:rPr>
              <a:t>评估碳排放、绿电消纳率</a:t>
            </a:r>
          </a:p>
        </p:txBody>
      </p:sp>
      <p:sp>
        <p:nvSpPr>
          <p:cNvPr id="58" name="Oval 57"/>
          <p:cNvSpPr/>
          <p:nvPr/>
        </p:nvSpPr>
        <p:spPr>
          <a:xfrm>
            <a:off x="6977616" y="4152304"/>
            <a:ext cx="974651" cy="982265"/>
          </a:xfrm>
          <a:prstGeom prst="ellipse">
            <a:avLst/>
          </a:prstGeom>
          <a:solidFill>
            <a:srgbClr val="E9FBF5"/>
          </a:solidFill>
          <a:ln w="1651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1278" y="4397871"/>
            <a:ext cx="487325" cy="241101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AA67E"/>
                </a:solidFill>
                <a:latin typeface="Microsoft YaHei"/>
              </a:rPr>
              <a:t>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9650" y="5134570"/>
            <a:ext cx="1550581" cy="133945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1F1F"/>
                </a:solidFill>
                <a:latin typeface="Microsoft YaHei"/>
              </a:rPr>
              <a:t>05. 辩论协商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92185" y="5290839"/>
            <a:ext cx="1749941" cy="125015"/>
          </a:xfrm>
          <a:prstGeom prst="rect">
            <a:avLst/>
          </a:prstGeom>
          <a:noFill/>
        </p:spPr>
        <p:txBody>
          <a:bodyPr wrap="non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多轮论证，观点碰撞，寻找最优平衡点</a:t>
            </a:r>
          </a:p>
        </p:txBody>
      </p:sp>
      <p:pic>
        <p:nvPicPr>
          <p:cNvPr id="62" name="Picture 61" descr="p3_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65" y="4129980"/>
            <a:ext cx="897704" cy="937617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0056627" y="4822031"/>
            <a:ext cx="1329069" cy="294679"/>
          </a:xfrm>
          <a:prstGeom prst="roundRect">
            <a:avLst/>
          </a:prstGeom>
          <a:solidFill>
            <a:srgbClr val="E9FBF5"/>
          </a:solidFill>
          <a:ln w="17780">
            <a:solidFill>
              <a:srgbClr val="4CD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67383" y="4880074"/>
            <a:ext cx="1107558" cy="151804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1F1F"/>
                </a:solidFill>
                <a:latin typeface="Microsoft YaHei"/>
              </a:rPr>
              <a:t>06. 仲裁决策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35116" y="5188148"/>
            <a:ext cx="1661337" cy="424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45871" y="5268515"/>
            <a:ext cx="1439825" cy="241101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4E4E"/>
                </a:solidFill>
                <a:latin typeface="Microsoft YaHei"/>
              </a:rPr>
              <a:t>综合各方评分，输出最终</a:t>
            </a:r>
            <a:br/>
            <a:r>
              <a:rPr sz="1400" b="0">
                <a:solidFill>
                  <a:srgbClr val="464E4E"/>
                </a:solidFill>
                <a:latin typeface="Microsoft YaHei"/>
              </a:rPr>
              <a:t>推荐方案与可行性报告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03720" y="6215062"/>
            <a:ext cx="7442790" cy="419695"/>
          </a:xfrm>
          <a:prstGeom prst="roundRect">
            <a:avLst/>
          </a:prstGeom>
          <a:solidFill>
            <a:srgbClr val="E9FBF5"/>
          </a:solidFill>
          <a:ln w="12700">
            <a:solidFill>
              <a:srgbClr val="EA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2441" y="6304359"/>
            <a:ext cx="6601046" cy="196453"/>
          </a:xfrm>
          <a:prstGeom prst="rect">
            <a:avLst/>
          </a:prstGeom>
          <a:noFill/>
        </p:spPr>
        <p:txBody>
          <a:bodyPr wrap="square" anchor="ctr" lIns="36576" rIns="36576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64E4E"/>
                </a:solidFill>
                <a:latin typeface="Microsoft YaHei"/>
              </a:rPr>
              <a:t>从单一维度计算到多维视角博弈，LangGraph 赋予系统真正的工程级规划智慧。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